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807034-13BB-4A5F-AE94-F0B63800EB70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BAF94-8F6F-4562-BE9C-F654D95C1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342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88825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529" y="1267730"/>
            <a:ext cx="9573768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424" y="1411615"/>
            <a:ext cx="9293979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4543" y="1267730"/>
            <a:ext cx="19197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48813" y="1267731"/>
            <a:ext cx="1691199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301" y="2091263"/>
            <a:ext cx="9066224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198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1693" y="4682063"/>
            <a:ext cx="906848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063" indent="0" algn="ctr">
              <a:buNone/>
              <a:defRPr sz="1600"/>
            </a:lvl2pPr>
            <a:lvl3pPr marL="914126" indent="0" algn="ctr">
              <a:buNone/>
              <a:defRPr sz="1600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7375" y="1341256"/>
            <a:ext cx="1554075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F0C013FE-9BBA-4165-9BE8-6F37B8587C2F}" type="datetime1">
              <a:rPr lang="en-US" smtClean="0"/>
              <a:t>8/4/2026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517" y="5212080"/>
            <a:ext cx="5903962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Review – 1 | DBMS Project | Academic Year 2026–27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4678" y="5212080"/>
            <a:ext cx="211133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43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DBAFF-94F0-4DDD-9383-B7DB2E7A5377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49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1" y="0"/>
            <a:ext cx="12188825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529" y="1267730"/>
            <a:ext cx="9573768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424" y="1411615"/>
            <a:ext cx="9293979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4543" y="1267730"/>
            <a:ext cx="19197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48813" y="1267731"/>
            <a:ext cx="1691199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216" y="2094309"/>
            <a:ext cx="906848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198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217" y="4682062"/>
            <a:ext cx="9068486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287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0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0422" y="1344502"/>
            <a:ext cx="1554075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4CEA6D5-2B94-4BE4-8B30-420DE5DB9276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17" y="5212080"/>
            <a:ext cx="5905486" cy="2286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Review – 1 | DBMS Project | Academic Year 2026–27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2263" y="5212080"/>
            <a:ext cx="2111714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6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522" y="2103120"/>
            <a:ext cx="4753642" cy="374904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8661" y="2103120"/>
            <a:ext cx="4753642" cy="374904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644D-8DD2-46D6-8E28-96024C128EBC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1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569" y="2074334"/>
            <a:ext cx="4753642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799" b="0">
                <a:solidFill>
                  <a:schemeClr val="tx2"/>
                </a:solidFill>
                <a:latin typeface="+mn-lt"/>
              </a:defRPr>
            </a:lvl1pPr>
            <a:lvl2pPr marL="457063" indent="0">
              <a:buNone/>
              <a:defRPr sz="17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569" y="2755898"/>
            <a:ext cx="4753642" cy="320040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1708" y="2074334"/>
            <a:ext cx="4753642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799" b="0">
                <a:solidFill>
                  <a:schemeClr val="tx2"/>
                </a:solidFill>
              </a:defRPr>
            </a:lvl1pPr>
            <a:lvl2pPr marL="457063" indent="0">
              <a:buNone/>
              <a:defRPr sz="17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1708" y="2756581"/>
            <a:ext cx="4753642" cy="320040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B655-6BA2-4367-8F06-5288FEB93014}" type="datetime1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16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61C27-2D31-49CD-9B0A-2E73FFD6B459}" type="datetime1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41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DA1F7-87F5-47CB-86BE-3EF245884DF1}" type="datetime1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1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18037" y="237744"/>
            <a:ext cx="2925318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3979" y="607392"/>
            <a:ext cx="2430147" cy="1645920"/>
          </a:xfrm>
        </p:spPr>
        <p:txBody>
          <a:bodyPr anchor="b">
            <a:normAutofit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99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21" y="609600"/>
            <a:ext cx="7770376" cy="5334000"/>
          </a:xfrm>
        </p:spPr>
        <p:txBody>
          <a:bodyPr/>
          <a:lstStyle>
            <a:lvl1pPr>
              <a:defRPr sz="18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3979" y="2286000"/>
            <a:ext cx="2430147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85D75-D507-4DF5-97CF-7AE5DBC1C47F}" type="datetime1">
              <a:rPr lang="en-US" smtClean="0"/>
              <a:t>8/4/2026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Review – 1 | DBMS Project | Academic Year 2026–27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4021" y="6227064"/>
            <a:ext cx="1462659" cy="25603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5161" y="374904"/>
            <a:ext cx="2651069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1173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18037" y="237744"/>
            <a:ext cx="2925318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3979" y="603504"/>
            <a:ext cx="2431671" cy="1645920"/>
          </a:xfrm>
        </p:spPr>
        <p:txBody>
          <a:bodyPr anchor="b">
            <a:noAutofit/>
          </a:bodyPr>
          <a:lstStyle>
            <a:lvl1pPr algn="l">
              <a:defRPr sz="2799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40" y="237744"/>
            <a:ext cx="8529130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3979" y="2286000"/>
            <a:ext cx="2431671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72DA10C-3C79-49EB-821B-5887A70C713A}" type="datetime1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126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4021" y="6227064"/>
            <a:ext cx="1462659" cy="25603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5161" y="374904"/>
            <a:ext cx="2651069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239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01F21-5A1F-4584-8727-82CBC25BECD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7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9258" y="762000"/>
            <a:ext cx="2361585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762000"/>
            <a:ext cx="8075097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A41EC-33C1-4D5A-92FA-F440E912B809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7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35" y="237744"/>
            <a:ext cx="11719555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522" y="642594"/>
            <a:ext cx="10055781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522" y="2103120"/>
            <a:ext cx="10055781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362" y="6214535"/>
            <a:ext cx="2742486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7192925-94CF-4A66-A23F-17546F901C72}" type="datetime1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051" y="6214535"/>
            <a:ext cx="5210723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Review – 1 | DBMS Project | Academic Year 2026–27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5840" y="6214535"/>
            <a:ext cx="1462659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759" y="374904"/>
            <a:ext cx="11445307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64862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hf sldNum="0" hd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lang="en-US" sz="4799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25" indent="-182825" algn="l" defTabSz="914126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indent="-182825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301" indent="-182825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538" indent="-182825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776" indent="-182825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599520" indent="-228531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430" indent="-228531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99340" indent="-228531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250" indent="-228531" algn="l" defTabSz="914126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7546" y="2716986"/>
            <a:ext cx="739544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IN" sz="2200" dirty="0">
                <a:latin typeface="Tw Cen MT Condensed Extra Bold" panose="020B0803020202020204" pitchFamily="34" charset="0"/>
              </a:rPr>
              <a:t>Presented By :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Sejal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Heda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(2510030350)</a:t>
            </a:r>
          </a:p>
          <a:p>
            <a:pPr>
              <a:defRPr sz="1800"/>
            </a:pP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			 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Bhavya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Potnuru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(2510030379)</a:t>
            </a:r>
          </a:p>
          <a:p>
            <a:pPr>
              <a:defRPr sz="1800"/>
            </a:pP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			  Thota Lakshmi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Hansika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(2510030330)</a:t>
            </a:r>
          </a:p>
          <a:p>
            <a:pPr>
              <a:defRPr sz="1800"/>
            </a:pP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			 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Bachangari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Siri(2510030325)</a:t>
            </a:r>
          </a:p>
          <a:p>
            <a:pPr>
              <a:defRPr sz="1800"/>
            </a:pP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			 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Macharla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Mounika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(2510030343)</a:t>
            </a:r>
          </a:p>
          <a:p>
            <a:pPr>
              <a:defRPr sz="1800"/>
            </a:pP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Project Guide :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Dr.P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Lalitha</a:t>
            </a:r>
            <a:r>
              <a:rPr lang="en-IN" sz="22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Surya </a:t>
            </a:r>
            <a:r>
              <a:rPr lang="en-IN" sz="22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Kumari</a:t>
            </a:r>
            <a:endParaRPr lang="en-IN" sz="2200" dirty="0">
              <a:latin typeface="Tw Cen MT Condensed Extra Bold" panose="020B0803020202020204" pitchFamily="34" charset="0"/>
              <a:ea typeface="Cambria Math" panose="02040503050406030204" pitchFamily="18" charset="0"/>
            </a:endParaRPr>
          </a:p>
          <a:p>
            <a:pPr>
              <a:defRPr sz="1800"/>
            </a:pPr>
            <a:r>
              <a:rPr lang="en-US" sz="2200" dirty="0">
                <a:latin typeface="Tw Cen MT Condensed Extra Bold" panose="020B0803020202020204" pitchFamily="34" charset="0"/>
              </a:rPr>
              <a:t>Department of Computer Science &amp; Engineering</a:t>
            </a:r>
            <a:endParaRPr sz="2200" dirty="0">
              <a:latin typeface="Tw Cen MT Condensed Extra Bold" panose="020B0803020202020204" pitchFamily="34" charset="0"/>
              <a:ea typeface="Cambria Math" panose="020405030504060302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59430" y="503853"/>
            <a:ext cx="7716415" cy="10772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defRPr sz="2200"/>
            </a:pPr>
            <a:r>
              <a:rPr lang="en-US" sz="3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Eras Bold ITC" panose="020B0907030504020204" pitchFamily="34" charset="0"/>
              </a:rPr>
              <a:t>CivicConnect</a:t>
            </a: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Eras Bold ITC" panose="020B0907030504020204" pitchFamily="34" charset="0"/>
              </a:rPr>
              <a:t>: Smart Public Grievance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461" y="1646001"/>
            <a:ext cx="6195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An Intelligent Platform for Efficient Civic Issue Reporting and Resolution</a:t>
            </a:r>
            <a:endParaRPr lang="en-IN" sz="1600" dirty="0"/>
          </a:p>
        </p:txBody>
      </p:sp>
      <p:pic>
        <p:nvPicPr>
          <p:cNvPr id="1026" name="Picture 2" descr="Opinion: Why Smart Cities will evolve into hyper-connected cities,  ETGovern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29" y="2062470"/>
            <a:ext cx="5010539" cy="334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/>
              <a:t>Review – 1 | DBMS Project | Academic Year 2026–27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876247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latin typeface="Calisto MT" panose="02040603050505030304" pitchFamily="18" charset="0"/>
              </a:rPr>
              <a:t>Current Challenges</a:t>
            </a:r>
          </a:p>
          <a:p>
            <a:r>
              <a:rPr lang="en-US" sz="2000" dirty="0">
                <a:latin typeface="Calisto MT" panose="02040603050505030304" pitchFamily="18" charset="0"/>
              </a:rPr>
              <a:t>⏳ </a:t>
            </a:r>
            <a:r>
              <a:rPr lang="en-US" sz="2000" b="1" dirty="0">
                <a:latin typeface="Calisto MT" panose="02040603050505030304" pitchFamily="18" charset="0"/>
              </a:rPr>
              <a:t>Delayed Resolution</a:t>
            </a:r>
            <a:r>
              <a:rPr lang="en-US" sz="2000" dirty="0">
                <a:latin typeface="Calisto MT" panose="02040603050505030304" pitchFamily="18" charset="0"/>
              </a:rPr>
              <a:t> – Complaints are processed manually, causing slow response times. </a:t>
            </a:r>
          </a:p>
          <a:p>
            <a:r>
              <a:rPr lang="en-US" sz="2000" dirty="0">
                <a:latin typeface="Calisto MT" panose="02040603050505030304" pitchFamily="18" charset="0"/>
              </a:rPr>
              <a:t>🔁 </a:t>
            </a:r>
            <a:r>
              <a:rPr lang="en-US" sz="2000" b="1" dirty="0">
                <a:latin typeface="Calisto MT" panose="02040603050505030304" pitchFamily="18" charset="0"/>
              </a:rPr>
              <a:t>Duplicate Complaints</a:t>
            </a:r>
            <a:r>
              <a:rPr lang="en-US" sz="2000" dirty="0">
                <a:latin typeface="Calisto MT" panose="02040603050505030304" pitchFamily="18" charset="0"/>
              </a:rPr>
              <a:t> – The same issue is reported multiple times, creating redundant records. </a:t>
            </a:r>
          </a:p>
          <a:p>
            <a:r>
              <a:rPr lang="en-US" sz="2000" dirty="0">
                <a:latin typeface="Calisto MT" panose="02040603050505030304" pitchFamily="18" charset="0"/>
              </a:rPr>
              <a:t>👁️ </a:t>
            </a:r>
            <a:r>
              <a:rPr lang="en-US" sz="2000" b="1" dirty="0">
                <a:latin typeface="Calisto MT" panose="02040603050505030304" pitchFamily="18" charset="0"/>
              </a:rPr>
              <a:t>Lack of Transparency</a:t>
            </a:r>
            <a:r>
              <a:rPr lang="en-US" sz="2000" dirty="0">
                <a:latin typeface="Calisto MT" panose="02040603050505030304" pitchFamily="18" charset="0"/>
              </a:rPr>
              <a:t> – Citizens cannot easily track the progress of their complaints. </a:t>
            </a:r>
          </a:p>
          <a:p>
            <a:r>
              <a:rPr lang="en-US" sz="2000" dirty="0">
                <a:latin typeface="Calisto MT" panose="02040603050505030304" pitchFamily="18" charset="0"/>
              </a:rPr>
              <a:t>🚨 </a:t>
            </a:r>
            <a:r>
              <a:rPr lang="en-US" sz="2000" b="1" dirty="0">
                <a:latin typeface="Calisto MT" panose="02040603050505030304" pitchFamily="18" charset="0"/>
              </a:rPr>
              <a:t>No Priority-Based Handling</a:t>
            </a:r>
            <a:r>
              <a:rPr lang="en-US" sz="2000" dirty="0">
                <a:latin typeface="Calisto MT" panose="02040603050505030304" pitchFamily="18" charset="0"/>
              </a:rPr>
              <a:t> – Critical issues are not always resolved before less urgent ones.</a:t>
            </a:r>
            <a:r>
              <a:rPr sz="2000" dirty="0">
                <a:latin typeface="Calisto MT" panose="02040603050505030304" pitchFamily="18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346475" y="3425983"/>
            <a:ext cx="4469363" cy="249127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213038" y="3387186"/>
            <a:ext cx="4758612" cy="2491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2015412" y="3670882"/>
            <a:ext cx="1473639" cy="798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ounded Rectangle 8"/>
          <p:cNvSpPr/>
          <p:nvPr/>
        </p:nvSpPr>
        <p:spPr>
          <a:xfrm>
            <a:off x="3824953" y="3661159"/>
            <a:ext cx="1558810" cy="8152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2015411" y="4743904"/>
            <a:ext cx="1473639" cy="798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❌</a:t>
            </a:r>
            <a:r>
              <a:rPr lang="en-IN" dirty="0">
                <a:solidFill>
                  <a:schemeClr val="tx1"/>
                </a:solidFill>
              </a:rPr>
              <a:t> Unresolved Issue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7538" y="4751842"/>
            <a:ext cx="1473639" cy="798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Delay / Duplicate Complaints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073" y="3897151"/>
            <a:ext cx="12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👤 Citizen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36812" y="4004594"/>
            <a:ext cx="430726" cy="193507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Down Arrow 15"/>
          <p:cNvSpPr/>
          <p:nvPr/>
        </p:nvSpPr>
        <p:spPr>
          <a:xfrm>
            <a:off x="4604357" y="4423644"/>
            <a:ext cx="45719" cy="457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Down Arrow 16"/>
          <p:cNvSpPr/>
          <p:nvPr/>
        </p:nvSpPr>
        <p:spPr>
          <a:xfrm>
            <a:off x="4525048" y="4410168"/>
            <a:ext cx="214904" cy="39029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 flipH="1">
            <a:off x="3989467" y="3750474"/>
            <a:ext cx="1351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📝 Manual Complaint</a:t>
            </a:r>
          </a:p>
        </p:txBody>
      </p:sp>
      <p:sp>
        <p:nvSpPr>
          <p:cNvPr id="20" name="Down Arrow 19"/>
          <p:cNvSpPr/>
          <p:nvPr/>
        </p:nvSpPr>
        <p:spPr>
          <a:xfrm rot="5400000">
            <a:off x="3532232" y="4866436"/>
            <a:ext cx="239881" cy="430725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ounded Rectangle 21"/>
          <p:cNvSpPr/>
          <p:nvPr/>
        </p:nvSpPr>
        <p:spPr>
          <a:xfrm>
            <a:off x="6540758" y="3649438"/>
            <a:ext cx="1129005" cy="51762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👤 Citizen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7694" y="3638338"/>
            <a:ext cx="1129005" cy="51762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📱 </a:t>
            </a:r>
            <a:r>
              <a:rPr lang="en-IN" sz="1200" dirty="0" err="1"/>
              <a:t>CivicConnect</a:t>
            </a:r>
            <a:endParaRPr lang="en-IN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9370266" y="3642097"/>
            <a:ext cx="1129005" cy="51762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/>
              <a:t>🤖 Automatic Department Assignment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9513" y="4605316"/>
            <a:ext cx="1129005" cy="51762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✅ Complaint Resolved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20791" y="4657254"/>
            <a:ext cx="1129005" cy="51762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🏢 Department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45445" y="4657254"/>
            <a:ext cx="1129005" cy="517626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⭐ Priority Calculation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637320" y="3822555"/>
            <a:ext cx="366010" cy="23981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ight Arrow 29"/>
          <p:cNvSpPr/>
          <p:nvPr/>
        </p:nvSpPr>
        <p:spPr>
          <a:xfrm>
            <a:off x="9004256" y="3786987"/>
            <a:ext cx="366010" cy="23981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ight Arrow 30"/>
          <p:cNvSpPr/>
          <p:nvPr/>
        </p:nvSpPr>
        <p:spPr>
          <a:xfrm>
            <a:off x="7627094" y="4757550"/>
            <a:ext cx="366010" cy="23981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ight Arrow 31"/>
          <p:cNvSpPr/>
          <p:nvPr/>
        </p:nvSpPr>
        <p:spPr>
          <a:xfrm>
            <a:off x="9055898" y="4769337"/>
            <a:ext cx="366010" cy="23981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Down Arrow 32"/>
          <p:cNvSpPr/>
          <p:nvPr/>
        </p:nvSpPr>
        <p:spPr>
          <a:xfrm>
            <a:off x="9889849" y="4186357"/>
            <a:ext cx="214904" cy="39029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2900642" y="2798729"/>
            <a:ext cx="653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  <a:latin typeface="Tw Cen MT Condensed Extra Bold" panose="020B0803020202020204" pitchFamily="34" charset="0"/>
              </a:rPr>
              <a:t>🗑️ Garbage ⚡ Electric Pole 🛣️ Road Damage 💧 Water Leakage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48856" y="5906799"/>
            <a:ext cx="1842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Existing</a:t>
            </a:r>
            <a:r>
              <a:rPr lang="en-IN" sz="1600" dirty="0"/>
              <a:t> 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28760" y="5831120"/>
            <a:ext cx="1787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Proposed System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7801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</a:defRPr>
            </a:pPr>
            <a:r>
              <a:rPr dirty="0"/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818859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lang="en-US" sz="2200" dirty="0">
                <a:latin typeface="Arial Rounded MT Bold" panose="020F0704030504030204" pitchFamily="34" charset="0"/>
              </a:rPr>
              <a:t>🎯 Primary Objective: Build a centralized civic complaint management system.</a:t>
            </a:r>
            <a:endParaRPr sz="2200" dirty="0"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88869"/>
            <a:ext cx="6092825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🎯 Centralized Complaint Platform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📝 Easy Complaint Registration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🔁 Duplicate Complaint Detection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🏢 Automatic Department Assignment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⭐ Priority-Based Handling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📊 Real-Time Status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19" y="3439464"/>
            <a:ext cx="6092825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Expected Improvements: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✅ Reduced complaint duplication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✅ Faster issue resolution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✅ Better transparency for citizens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✅ Improved departmental efficiency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Arial Narrow" panose="020B0606020202030204" pitchFamily="34" charset="0"/>
              </a:rPr>
              <a:t>✅ Organized and scalable complaint management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</a:defRPr>
            </a:pPr>
            <a:r>
              <a:t>Technology Stack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269080"/>
              </p:ext>
            </p:extLst>
          </p:nvPr>
        </p:nvGraphicFramePr>
        <p:xfrm>
          <a:off x="811763" y="1091677"/>
          <a:ext cx="6363478" cy="4572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1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1">
                <a:tc>
                  <a:txBody>
                    <a:bodyPr/>
                    <a:lstStyle/>
                    <a:p>
                      <a:r>
                        <a:rPr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HTML, CSS, JavaScript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 (Flask)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rPr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t>Database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MySQL Workbench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t>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Visual Studio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 &amp;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1">
                <a:tc>
                  <a:txBody>
                    <a:bodyPr/>
                    <a:lstStyle/>
                    <a:p>
                      <a:r>
                        <a:t>Maps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Google Maps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37713" y="1282370"/>
            <a:ext cx="3722915" cy="4075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 Architecture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Citizen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↓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Frontend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(HTML/CSS/JS)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↓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Backend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(Flask)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↓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MySQL Database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↓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Department Dashboard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630906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✅ Provide a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centralized platform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 for citizens to report civic issues. 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🏢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Automatically assign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 complaints to the appropriate government department. 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🔁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Reduce duplicate complaints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 by identifying complaints with the same category and location. 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⭐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Prioritize critical issues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 using automatic priority calculation. 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📊 Allow citizens to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track complaint status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 in real time. 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Franklin Gothic Medium" panose="020B0603020102020204" pitchFamily="34" charset="0"/>
              </a:rPr>
              <a:t>⚡ Improve the efficiency and response time of government departments.</a:t>
            </a:r>
          </a:p>
          <a:p>
            <a:pPr>
              <a:defRPr sz="2000"/>
            </a:pPr>
            <a:endParaRPr dirty="0">
              <a:solidFill>
                <a:schemeClr val="accent2">
                  <a:lumMod val="50000"/>
                </a:schemeClr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30431" y="6214536"/>
            <a:ext cx="5210723" cy="256032"/>
          </a:xfrm>
        </p:spPr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2885" y="2976503"/>
            <a:ext cx="1034142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Benefits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👥 For Citizens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Easy complaint registration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Transparent complaint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Faster issue resolution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Improved communication with departments </a:t>
            </a: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🏢 For Government Departments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Organized complaint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Priority-based resolution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Reduced duplicate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Better resource allocation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</a:defRPr>
            </a:pPr>
            <a:r>
              <a:t>Project Modules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866" y="1261498"/>
            <a:ext cx="2011680" cy="2011680"/>
          </a:xfrm>
          <a:prstGeom prst="round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Citizen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Registration</a:t>
            </a:r>
          </a:p>
          <a:p>
            <a:pPr>
              <a:defRPr sz="1300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Secure registration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9774" y="1261498"/>
            <a:ext cx="2011680" cy="2011680"/>
          </a:xfrm>
          <a:prstGeom prst="round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Complaint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Registration</a:t>
            </a:r>
          </a:p>
          <a:p>
            <a:pPr>
              <a:defRPr sz="1300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Category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Location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8572" y="1261498"/>
            <a:ext cx="2011680" cy="2011680"/>
          </a:xfrm>
          <a:prstGeom prst="round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Duplicate Check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 Priority</a:t>
            </a:r>
          </a:p>
          <a:p>
            <a:pPr>
              <a:defRPr sz="1300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Detect duplicates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4480" y="1261498"/>
            <a:ext cx="2011680" cy="2011680"/>
          </a:xfrm>
          <a:prstGeom prst="round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Department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Assignment</a:t>
            </a:r>
          </a:p>
          <a:p>
            <a:pPr>
              <a:defRPr sz="1300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Auto-route to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concerned dept.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0388" y="1261498"/>
            <a:ext cx="2011680" cy="2011680"/>
          </a:xfrm>
          <a:prstGeom prst="roundRect">
            <a:avLst/>
          </a:prstGeom>
          <a:solidFill>
            <a:srgbClr val="E3F2FD"/>
          </a:solidFill>
          <a:ln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Status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Tracking</a:t>
            </a:r>
          </a:p>
          <a:p>
            <a:pPr>
              <a:defRPr sz="1300"/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Pending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Progress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Resolved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635" y="3936412"/>
            <a:ext cx="93243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lang="en-IN" dirty="0">
                <a:latin typeface="Stencil" panose="040409050D0802020404" pitchFamily="82" charset="0"/>
              </a:rPr>
              <a:t>Workflow</a:t>
            </a:r>
          </a:p>
          <a:p>
            <a:pPr>
              <a:defRPr sz="1800"/>
            </a:pPr>
            <a:r>
              <a:rPr lang="en-IN" dirty="0">
                <a:latin typeface="Stencil" panose="040409050D0802020404" pitchFamily="82" charset="0"/>
              </a:rPr>
              <a:t>Citizen  →  Complaint  →  Duplicate Detection  →  Priority Calculation  →  Department Assignment  →  Status Update  →  Resolved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</a:defRPr>
            </a:pPr>
            <a:r>
              <a:t>Categories &amp; Smart Priority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5" name="Rectangle 4"/>
          <p:cNvSpPr/>
          <p:nvPr/>
        </p:nvSpPr>
        <p:spPr>
          <a:xfrm>
            <a:off x="883298" y="1287521"/>
            <a:ext cx="6092825" cy="38164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b="1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Complaint Categories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🗑 Garbage &amp; Cleanliness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💡 Electricity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🛣 Roads &amp; Footpaths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💧 Water Supply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🚰 Sewerage &amp; Drainage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🌳 Parks &amp; Trees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🐕 Animal Issues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🚦 Traffic &amp; Transport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🏗 Building &amp; Construction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🌍 Environment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🏥 Public Health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🚒 Safety &amp; Emergency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🏢 Public Infrastructure</a:t>
            </a:r>
          </a:p>
          <a:p>
            <a:pPr>
              <a:defRPr sz="1600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Eras Bold ITC" panose="020B0907030504020204" pitchFamily="34" charset="0"/>
              </a:rPr>
              <a:t>• 📢 Other Complaints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911" y="864621"/>
            <a:ext cx="4295192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Automatic Priority Levels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🔴 Critical (10): Fallen electric pole, Fire hazard, Gas leakage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🟠 High (8-9): Garbage near hospital, Road damage near school, Traffic signal failure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🟡 Medium (5-7): Water leakage, Drainage blockage, Animal issues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🟢 Low (1-4): Streetlight failure, Park maintenance, Public cleanliness</a:t>
            </a:r>
          </a:p>
          <a:p>
            <a:pPr>
              <a:defRPr sz="1500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Priority Score = Base Priority + Location Bonus + Duplicate Count</a:t>
            </a:r>
          </a:p>
          <a:p>
            <a:pPr>
              <a:defRPr sz="1500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Location Bonus: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Hospital +4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School +3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Highway +3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Market +2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Residential Area +1</a:t>
            </a: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Others +1</a:t>
            </a:r>
          </a:p>
          <a:p>
            <a:pPr>
              <a:defRPr sz="1500"/>
            </a:pPr>
            <a:endParaRPr lang="en-US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500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duplicate complaints are found, the system increases the Priority Score automatically.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565C0"/>
                </a:solidFill>
              </a:defRPr>
            </a:pPr>
            <a:r>
              <a:t>Project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745302"/>
              </p:ext>
            </p:extLst>
          </p:nvPr>
        </p:nvGraphicFramePr>
        <p:xfrm>
          <a:off x="746446" y="918879"/>
          <a:ext cx="10926151" cy="5282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0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0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08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08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08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0066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587">
                <a:tc>
                  <a:txBody>
                    <a:bodyPr/>
                    <a:lstStyle/>
                    <a:p>
                      <a:r>
                        <a:rPr dirty="0"/>
                        <a:t>Requirement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587">
                <a:tc>
                  <a:txBody>
                    <a:bodyPr/>
                    <a:lstStyle/>
                    <a:p>
                      <a:r>
                        <a:t>Literature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587">
                <a:tc>
                  <a:txBody>
                    <a:bodyPr/>
                    <a:lstStyle/>
                    <a:p>
                      <a:r>
                        <a:rPr dirty="0"/>
                        <a:t>Database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2455">
                <a:tc>
                  <a:txBody>
                    <a:bodyPr/>
                    <a:lstStyle/>
                    <a:p>
                      <a:r>
                        <a:t>UI &amp; Backend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7587">
                <a:tc>
                  <a:txBody>
                    <a:bodyPr/>
                    <a:lstStyle/>
                    <a:p>
                      <a:r>
                        <a:t>Testing &amp; Bug Fixing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7587">
                <a:tc>
                  <a:txBody>
                    <a:bodyPr/>
                    <a:lstStyle/>
                    <a:p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7587">
                <a:tc>
                  <a:txBody>
                    <a:bodyPr/>
                    <a:lstStyle/>
                    <a:p>
                      <a:r>
                        <a:t>Review-2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66">
                <a:tc>
                  <a:txBody>
                    <a:bodyPr/>
                    <a:lstStyle/>
                    <a:p>
                      <a:r>
                        <a:t>Final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| DBMS Project | Academic Year 2026–27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7013" y="2267339"/>
            <a:ext cx="66993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14293" y="3272325"/>
            <a:ext cx="376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Questions &amp; Suggestions are Welcome</a:t>
            </a:r>
          </a:p>
        </p:txBody>
      </p:sp>
    </p:spTree>
    <p:extLst>
      <p:ext uri="{BB962C8B-B14F-4D97-AF65-F5344CB8AC3E}">
        <p14:creationId xmlns:p14="http://schemas.microsoft.com/office/powerpoint/2010/main" val="379313991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155</TotalTime>
  <Words>797</Words>
  <Application>Microsoft Office PowerPoint</Application>
  <PresentationFormat>Custom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Arial Narrow</vt:lpstr>
      <vt:lpstr>Arial Rounded MT Bold</vt:lpstr>
      <vt:lpstr>Calibri</vt:lpstr>
      <vt:lpstr>Calisto MT</vt:lpstr>
      <vt:lpstr>Cambria</vt:lpstr>
      <vt:lpstr>Eras Bold ITC</vt:lpstr>
      <vt:lpstr>Franklin Gothic Medium</vt:lpstr>
      <vt:lpstr>Garamond</vt:lpstr>
      <vt:lpstr>Stencil</vt:lpstr>
      <vt:lpstr>Tw Cen MT Condensed Extra Bold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sejalheda7@gmail.com</cp:lastModifiedBy>
  <cp:revision>16</cp:revision>
  <dcterms:created xsi:type="dcterms:W3CDTF">2013-01-27T09:14:16Z</dcterms:created>
  <dcterms:modified xsi:type="dcterms:W3CDTF">2026-08-04T01:11:00Z</dcterms:modified>
  <cp:category/>
</cp:coreProperties>
</file>