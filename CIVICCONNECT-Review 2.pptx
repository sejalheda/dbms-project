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  <p:embeddedFont>
      <p:font typeface="Tw Cen MT Condensed Extra Bold" panose="020B0803020202020204" pitchFamily="3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jalheda7@gmail.com" userId="16a43dc8308c7539" providerId="LiveId" clId="{6720668F-53F4-4709-AE7A-77FA61A926F6}"/>
    <pc:docChg chg="undo custSel modSld">
      <pc:chgData name="sejalheda7@gmail.com" userId="16a43dc8308c7539" providerId="LiveId" clId="{6720668F-53F4-4709-AE7A-77FA61A926F6}" dt="2026-08-18T08:35:06.909" v="52" actId="20577"/>
      <pc:docMkLst>
        <pc:docMk/>
      </pc:docMkLst>
      <pc:sldChg chg="modSp mod">
        <pc:chgData name="sejalheda7@gmail.com" userId="16a43dc8308c7539" providerId="LiveId" clId="{6720668F-53F4-4709-AE7A-77FA61A926F6}" dt="2026-08-18T08:35:06.909" v="52" actId="20577"/>
        <pc:sldMkLst>
          <pc:docMk/>
          <pc:sldMk cId="0" sldId="256"/>
        </pc:sldMkLst>
        <pc:spChg chg="mod">
          <ac:chgData name="sejalheda7@gmail.com" userId="16a43dc8308c7539" providerId="LiveId" clId="{6720668F-53F4-4709-AE7A-77FA61A926F6}" dt="2026-08-18T08:35:06.909" v="52" actId="20577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sejalheda7@gmail.com" userId="16a43dc8308c7539" providerId="LiveId" clId="{6720668F-53F4-4709-AE7A-77FA61A926F6}" dt="2026-08-17T23:08:59.210" v="6" actId="478"/>
        <pc:sldMkLst>
          <pc:docMk/>
          <pc:sldMk cId="0" sldId="263"/>
        </pc:sldMkLst>
        <pc:spChg chg="del">
          <ac:chgData name="sejalheda7@gmail.com" userId="16a43dc8308c7539" providerId="LiveId" clId="{6720668F-53F4-4709-AE7A-77FA61A926F6}" dt="2026-08-17T23:08:49.436" v="0" actId="478"/>
          <ac:spMkLst>
            <pc:docMk/>
            <pc:sldMk cId="0" sldId="263"/>
            <ac:spMk id="44" creationId="{00000000-0000-0000-0000-000000000000}"/>
          </ac:spMkLst>
        </pc:spChg>
        <pc:spChg chg="del">
          <ac:chgData name="sejalheda7@gmail.com" userId="16a43dc8308c7539" providerId="LiveId" clId="{6720668F-53F4-4709-AE7A-77FA61A926F6}" dt="2026-08-17T23:08:52.172" v="2" actId="478"/>
          <ac:spMkLst>
            <pc:docMk/>
            <pc:sldMk cId="0" sldId="263"/>
            <ac:spMk id="46" creationId="{00000000-0000-0000-0000-000000000000}"/>
          </ac:spMkLst>
        </pc:spChg>
        <pc:spChg chg="del">
          <ac:chgData name="sejalheda7@gmail.com" userId="16a43dc8308c7539" providerId="LiveId" clId="{6720668F-53F4-4709-AE7A-77FA61A926F6}" dt="2026-08-17T23:08:57.862" v="5" actId="478"/>
          <ac:spMkLst>
            <pc:docMk/>
            <pc:sldMk cId="0" sldId="263"/>
            <ac:spMk id="48" creationId="{00000000-0000-0000-0000-000000000000}"/>
          </ac:spMkLst>
        </pc:spChg>
        <pc:picChg chg="del">
          <ac:chgData name="sejalheda7@gmail.com" userId="16a43dc8308c7539" providerId="LiveId" clId="{6720668F-53F4-4709-AE7A-77FA61A926F6}" dt="2026-08-17T23:08:50.599" v="1" actId="478"/>
          <ac:picMkLst>
            <pc:docMk/>
            <pc:sldMk cId="0" sldId="263"/>
            <ac:picMk id="45" creationId="{00000000-0000-0000-0000-000000000000}"/>
          </ac:picMkLst>
        </pc:picChg>
        <pc:picChg chg="del">
          <ac:chgData name="sejalheda7@gmail.com" userId="16a43dc8308c7539" providerId="LiveId" clId="{6720668F-53F4-4709-AE7A-77FA61A926F6}" dt="2026-08-17T23:08:59.210" v="6" actId="478"/>
          <ac:picMkLst>
            <pc:docMk/>
            <pc:sldMk cId="0" sldId="263"/>
            <ac:picMk id="47" creationId="{00000000-0000-0000-0000-000000000000}"/>
          </ac:picMkLst>
        </pc:picChg>
        <pc:picChg chg="del">
          <ac:chgData name="sejalheda7@gmail.com" userId="16a43dc8308c7539" providerId="LiveId" clId="{6720668F-53F4-4709-AE7A-77FA61A926F6}" dt="2026-08-17T23:08:53.967" v="3" actId="478"/>
          <ac:picMkLst>
            <pc:docMk/>
            <pc:sldMk cId="0" sldId="263"/>
            <ac:picMk id="49" creationId="{00000000-0000-0000-0000-000000000000}"/>
          </ac:picMkLst>
        </pc:picChg>
        <pc:picChg chg="del">
          <ac:chgData name="sejalheda7@gmail.com" userId="16a43dc8308c7539" providerId="LiveId" clId="{6720668F-53F4-4709-AE7A-77FA61A926F6}" dt="2026-08-17T23:08:55.458" v="4" actId="478"/>
          <ac:picMkLst>
            <pc:docMk/>
            <pc:sldMk cId="0" sldId="263"/>
            <ac:picMk id="51" creationId="{00000000-0000-0000-0000-000000000000}"/>
          </ac:picMkLst>
        </pc:picChg>
      </pc:sldChg>
      <pc:sldChg chg="delSp modSp mod">
        <pc:chgData name="sejalheda7@gmail.com" userId="16a43dc8308c7539" providerId="LiveId" clId="{6720668F-53F4-4709-AE7A-77FA61A926F6}" dt="2026-08-17T23:10:04.126" v="23" actId="1076"/>
        <pc:sldMkLst>
          <pc:docMk/>
          <pc:sldMk cId="0" sldId="270"/>
        </pc:sldMkLst>
        <pc:spChg chg="mod">
          <ac:chgData name="sejalheda7@gmail.com" userId="16a43dc8308c7539" providerId="LiveId" clId="{6720668F-53F4-4709-AE7A-77FA61A926F6}" dt="2026-08-17T23:10:04.126" v="23" actId="1076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sejalheda7@gmail.com" userId="16a43dc8308c7539" providerId="LiveId" clId="{6720668F-53F4-4709-AE7A-77FA61A926F6}" dt="2026-08-17T23:09:41.452" v="13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sejalheda7@gmail.com" userId="16a43dc8308c7539" providerId="LiveId" clId="{6720668F-53F4-4709-AE7A-77FA61A926F6}" dt="2026-08-17T23:09:32.036" v="8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sejalheda7@gmail.com" userId="16a43dc8308c7539" providerId="LiveId" clId="{6720668F-53F4-4709-AE7A-77FA61A926F6}" dt="2026-08-17T23:09:34.504" v="9" actId="478"/>
          <ac:spMkLst>
            <pc:docMk/>
            <pc:sldMk cId="0" sldId="27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123"/>
            <a:ext cx="950988" cy="26918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735" y="596205"/>
            <a:ext cx="134805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–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9123" y="878681"/>
            <a:ext cx="10625957" cy="504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/>
              <a:t>AI-Powered Civic Connect: Smart Public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/>
              <a:t>Grievance Management System</a:t>
            </a:r>
          </a:p>
        </p:txBody>
      </p:sp>
      <p:sp>
        <p:nvSpPr>
          <p:cNvPr id="5" name="Text 3"/>
          <p:cNvSpPr/>
          <p:nvPr/>
        </p:nvSpPr>
        <p:spPr>
          <a:xfrm>
            <a:off x="356682" y="1892002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Public Grievance Tracking System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239772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710160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-1491174" y="3264793"/>
            <a:ext cx="6548950" cy="1040905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 lnSpcReduction="10000"/>
          </a:bodyPr>
          <a:lstStyle/>
          <a:p>
            <a:pPr>
              <a:defRPr sz="1800"/>
            </a:pP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 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Sejal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Heda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(2510030350)</a:t>
            </a:r>
          </a:p>
          <a:p>
            <a:pPr>
              <a:defRPr sz="1800"/>
            </a:pP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  Bhavya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Potnuru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(2510030379)</a:t>
            </a:r>
          </a:p>
          <a:p>
            <a:pPr>
              <a:defRPr sz="1800"/>
            </a:pP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			  Thota Lakshmi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Hansika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(2510030330)</a:t>
            </a:r>
          </a:p>
          <a:p>
            <a:pPr>
              <a:defRPr sz="1800"/>
            </a:pP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			 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Bachangari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Siri(2510030325)</a:t>
            </a:r>
          </a:p>
          <a:p>
            <a:pPr>
              <a:defRPr sz="1800"/>
            </a:pP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  </a:t>
            </a:r>
            <a:r>
              <a:rPr lang="en-IN" sz="14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Macharla</a:t>
            </a:r>
            <a:r>
              <a:rPr lang="en-IN" sz="14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Mounika(2510030343)</a:t>
            </a:r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475" y="4758333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the Guidance of: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82" y="5284391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1800"/>
            </a:pP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		</a:t>
            </a: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Dr.P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Lalitha Surya Kumari		</a:t>
            </a:r>
          </a:p>
        </p:txBody>
      </p:sp>
      <p:sp>
        <p:nvSpPr>
          <p:cNvPr id="11" name="Shape 9"/>
          <p:cNvSpPr/>
          <p:nvPr/>
        </p:nvSpPr>
        <p:spPr>
          <a:xfrm>
            <a:off x="661475" y="57901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74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62423"/>
            <a:ext cx="2422167" cy="4101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7970" y="1952724"/>
            <a:ext cx="196537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27970" y="2375495"/>
            <a:ext cx="1965375" cy="1838821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damage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Garbage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leakage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Streetlight failures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Drainage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signals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816" y="1762423"/>
            <a:ext cx="2422266" cy="41011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05311" y="1952724"/>
            <a:ext cx="196547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Challenges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505311" y="2375495"/>
            <a:ext cx="1965474" cy="3297734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Issues are reported late and often after they worsen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tracking makes follow-up slow and inconsistent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teams lack a unified view of priorities and status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coordination delays repair and response efforts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5331" y="1762423"/>
            <a:ext cx="5451140" cy="23266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51825" y="1952724"/>
            <a:ext cx="499434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351825" y="2375495"/>
            <a:ext cx="4994348" cy="1523305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faster reporting of civic issues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visibility into complaint status and resolution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issues based on severity and impact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better coordination between stakeholders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efficiency in maintenance and response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677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15579"/>
            <a:ext cx="10868745" cy="3158827"/>
          </a:xfrm>
          <a:prstGeom prst="roundRect">
            <a:avLst>
              <a:gd name="adj" fmla="val 243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621929"/>
            <a:ext cx="10856046" cy="5138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825" y="1621929"/>
            <a:ext cx="5428023" cy="513854"/>
          </a:xfrm>
          <a:custGeom>
            <a:avLst/>
            <a:gdLst/>
            <a:ahLst/>
            <a:cxnLst/>
            <a:rect l="l" t="t" r="r" b="b"/>
            <a:pathLst>
              <a:path w="5428023" h="513854">
                <a:moveTo>
                  <a:pt x="64089" y="0"/>
                </a:moveTo>
                <a:lnTo>
                  <a:pt x="5428023" y="0"/>
                </a:lnTo>
                <a:lnTo>
                  <a:pt x="5428023" y="513854"/>
                </a:lnTo>
                <a:lnTo>
                  <a:pt x="0" y="513854"/>
                </a:lnTo>
                <a:lnTo>
                  <a:pt x="0" y="64091"/>
                </a:lnTo>
                <a:arcTo wR="64089" hR="64091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50879" y="1734641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kern="0" spc="-2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 / Research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1621929"/>
            <a:ext cx="5428023" cy="513854"/>
          </a:xfrm>
          <a:custGeom>
            <a:avLst/>
            <a:gdLst/>
            <a:ahLst/>
            <a:cxnLst/>
            <a:rect l="l" t="t" r="r" b="b"/>
            <a:pathLst>
              <a:path w="5428023" h="513854">
                <a:moveTo>
                  <a:pt x="0" y="0"/>
                </a:moveTo>
                <a:lnTo>
                  <a:pt x="5363934" y="0"/>
                </a:lnTo>
                <a:arcTo wR="64089" hR="64091" stAng="16200000" swAng="5400000"/>
                <a:lnTo>
                  <a:pt x="5428023" y="513854"/>
                </a:lnTo>
                <a:lnTo>
                  <a:pt x="0" y="513854"/>
                </a:lnTo>
                <a:lnTo>
                  <a:pt x="0" y="0"/>
                </a:ln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282076" y="1734641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kern="0" spc="-2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Major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825" y="2135783"/>
            <a:ext cx="10856046" cy="513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0879" y="2248495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CPGRAMS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2076" y="2248495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Grievance registration, tracking and department handling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825" y="2649637"/>
            <a:ext cx="10856046" cy="802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0879" y="2762349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Swachhata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82076" y="2762349"/>
            <a:ext cx="505874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Cleanliness complaints, location/image support and status updates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825" y="3451920"/>
            <a:ext cx="10856046" cy="513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0879" y="3564632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FixMyStreet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2076" y="3564632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issue reporting and location-based complaint handling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825" y="3965773"/>
            <a:ext cx="10856046" cy="802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50879" y="4078486"/>
            <a:ext cx="566832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Research 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82076" y="4078486"/>
            <a:ext cx="505874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classification, prioritization, geolocation and duplicate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1475" y="5040412"/>
            <a:ext cx="10868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1475" y="5592465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systems provide important complaint registration and tracking facilities, while recent research explores greater automation and intelligent prioritization.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07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ANALYSIS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316534"/>
            <a:ext cx="10868745" cy="4104481"/>
          </a:xfrm>
          <a:prstGeom prst="roundRect">
            <a:avLst>
              <a:gd name="adj" fmla="val 163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322884"/>
            <a:ext cx="10856046" cy="409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924" y="1322884"/>
            <a:ext cx="3256774" cy="409178"/>
          </a:xfrm>
          <a:custGeom>
            <a:avLst/>
            <a:gdLst/>
            <a:ahLst/>
            <a:cxnLst/>
            <a:rect l="l" t="t" r="r" b="b"/>
            <a:pathLst>
              <a:path w="3256774" h="409178">
                <a:moveTo>
                  <a:pt x="55820" y="0"/>
                </a:moveTo>
                <a:lnTo>
                  <a:pt x="3256774" y="0"/>
                </a:lnTo>
                <a:lnTo>
                  <a:pt x="3256774" y="409178"/>
                </a:lnTo>
                <a:lnTo>
                  <a:pt x="0" y="409178"/>
                </a:lnTo>
                <a:lnTo>
                  <a:pt x="0" y="55821"/>
                </a:lnTo>
                <a:arcTo wR="55820" hR="55821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7364" y="1409898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24698" y="1322884"/>
            <a:ext cx="4342398" cy="40917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087313" y="1409898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67096" y="1322884"/>
            <a:ext cx="3256774" cy="409178"/>
          </a:xfrm>
          <a:custGeom>
            <a:avLst/>
            <a:gdLst/>
            <a:ahLst/>
            <a:cxnLst/>
            <a:rect l="l" t="t" r="r" b="b"/>
            <a:pathLst>
              <a:path w="3256774" h="409178">
                <a:moveTo>
                  <a:pt x="0" y="0"/>
                </a:moveTo>
                <a:lnTo>
                  <a:pt x="3200954" y="0"/>
                </a:lnTo>
                <a:arcTo wR="55820" hR="55821" stAng="16200000" swAng="5400000"/>
                <a:lnTo>
                  <a:pt x="3256774" y="409178"/>
                </a:lnTo>
                <a:lnTo>
                  <a:pt x="0" y="409178"/>
                </a:lnTo>
                <a:lnTo>
                  <a:pt x="0" y="0"/>
                </a:ln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8429712" y="1409898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CivicConnect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825" y="1732062"/>
            <a:ext cx="10856046" cy="409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7364" y="1819077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Registration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87313" y="1819077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29712" y="1819077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825" y="2141240"/>
            <a:ext cx="10856046" cy="409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7364" y="2228255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Tracking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87313" y="2228255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29712" y="2228255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825" y="2550418"/>
            <a:ext cx="10856046" cy="409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7364" y="2637433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Selection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87313" y="2637433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29712" y="2637433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825" y="2959596"/>
            <a:ext cx="10856046" cy="409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7364" y="3046611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Information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87313" y="3046611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/ Limited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29712" y="3046611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7825" y="3368774"/>
            <a:ext cx="10856046" cy="409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7364" y="3455789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Handling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87313" y="3455789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29712" y="3455789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825" y="3777952"/>
            <a:ext cx="10856046" cy="409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7364" y="3864967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087313" y="3864967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/ Not Core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29712" y="3864967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✓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7825" y="4187130"/>
            <a:ext cx="10856046" cy="409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7364" y="4274145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Calculation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87313" y="4274145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/ Limited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29712" y="4274145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✓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67825" y="4596309"/>
            <a:ext cx="10856046" cy="409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7364" y="4683323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Location-Based Priority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087313" y="4683323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429712" y="4683323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✓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7825" y="5005487"/>
            <a:ext cx="10856046" cy="409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7364" y="5092502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Management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087313" y="5092502"/>
            <a:ext cx="46267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29712" y="5092502"/>
            <a:ext cx="35443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✓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61475" y="5622826"/>
            <a:ext cx="1086874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661475" y="6073775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CivicConnect proposes to integrate complaint registration, tracking, duplicate handling, prioritization and department assignment in one system.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02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ANALYSIS OF EXISTING SYSTEMS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11697"/>
            <a:ext cx="5225423" cy="3139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45751" y="1623913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1772" y="2199779"/>
            <a:ext cx="484483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51772" y="2622550"/>
            <a:ext cx="4844830" cy="1838821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complaint registration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complaint records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status tracking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Location-based reporting in some systems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Department/authority involvement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access for citizens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147" y="1511697"/>
            <a:ext cx="5225423" cy="33469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95423" y="1623913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01444" y="2199779"/>
            <a:ext cx="484483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/ Areas for Improvement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501444" y="2622550"/>
            <a:ext cx="4844830" cy="2045791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or related complaints need better handling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assignment can be made more systematic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importance can be considered during prioritization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routing can be made more structured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features are often distributed across different systems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1475" y="5266035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Analysis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61475" y="5766395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scope for an integrated grievance system combining registration, duplicate handling, prioritization, department assignment and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693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GAP IDENTIFIED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909538"/>
            <a:ext cx="3591430" cy="774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0488" y="980380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68628" y="1287463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Complaint Handling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8628" y="1463377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repeated reports related to the same issue.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132" y="909538"/>
            <a:ext cx="3591430" cy="774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9145" y="980380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407286" y="1287463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Assignment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407286" y="1463377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complaints using predefined factors.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790" y="909538"/>
            <a:ext cx="3591430" cy="774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803" y="980380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045943" y="1287463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Location-Based Priority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45943" y="1463377"/>
            <a:ext cx="33771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additional consideration to important locations.</a:t>
            </a:r>
            <a:endParaRPr lang="en-US" sz="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731169"/>
            <a:ext cx="5410759" cy="774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10103" y="1802011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768628" y="2109093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Assignment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68628" y="2285008"/>
            <a:ext cx="51964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complaint categories to the concerned department.</a:t>
            </a:r>
            <a:endParaRPr lang="en-US" sz="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9461" y="1731169"/>
            <a:ext cx="5410759" cy="7744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68089" y="1802011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6226615" y="2109093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Tracking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226615" y="2285008"/>
            <a:ext cx="51964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registration, processing and status tracking.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61475" y="2576413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Flow</a:t>
            </a:r>
            <a:endParaRPr lang="en-US" sz="14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22" y="2590005"/>
            <a:ext cx="10333254" cy="445601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3933" y="618535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Gap</a:t>
            </a:r>
            <a:endParaRPr lang="en-US" sz="1900" dirty="0"/>
          </a:p>
        </p:txBody>
      </p:sp>
      <p:sp>
        <p:nvSpPr>
          <p:cNvPr id="26" name="Text 18"/>
          <p:cNvSpPr/>
          <p:nvPr/>
        </p:nvSpPr>
        <p:spPr>
          <a:xfrm>
            <a:off x="1152524" y="521590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1183933" y="4128160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1152524" y="3174719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65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CIVICCONNECT — PROPOSED SOLUTION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32111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"CivicConnect is a proposed centralized public grievance tracking system connecting citizens with concerned departments."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769070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Features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69542"/>
            <a:ext cx="398651" cy="3986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936379"/>
            <a:ext cx="351076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Registration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414" y="2369542"/>
            <a:ext cx="398651" cy="398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0414" y="2936379"/>
            <a:ext cx="351076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Registration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9353" y="2369542"/>
            <a:ext cx="398651" cy="3986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19353" y="2936379"/>
            <a:ext cx="3510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Categorization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454598"/>
            <a:ext cx="398651" cy="3986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021435"/>
            <a:ext cx="351076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Detection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0414" y="3454598"/>
            <a:ext cx="398651" cy="39866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0414" y="4021435"/>
            <a:ext cx="351076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Calculation</a:t>
            </a:r>
            <a:endParaRPr lang="en-US" sz="15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19353" y="3454598"/>
            <a:ext cx="398651" cy="39866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19353" y="4021435"/>
            <a:ext cx="3510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Assignment</a:t>
            </a:r>
            <a:endParaRPr lang="en-US" sz="15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4539655"/>
            <a:ext cx="398651" cy="39866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61475" y="5106491"/>
            <a:ext cx="351076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Status Tracking</a:t>
            </a:r>
            <a:endParaRPr lang="en-US" sz="1550" dirty="0"/>
          </a:p>
        </p:txBody>
      </p:sp>
      <p:sp>
        <p:nvSpPr>
          <p:cNvPr id="19" name="Text 10"/>
          <p:cNvSpPr/>
          <p:nvPr/>
        </p:nvSpPr>
        <p:spPr>
          <a:xfrm>
            <a:off x="661475" y="5557441"/>
            <a:ext cx="10868745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</a:t>
            </a:r>
            <a:endParaRPr lang="en-US" sz="1850" dirty="0"/>
          </a:p>
        </p:txBody>
      </p:sp>
      <p:sp>
        <p:nvSpPr>
          <p:cNvPr id="20" name="Text 11"/>
          <p:cNvSpPr/>
          <p:nvPr/>
        </p:nvSpPr>
        <p:spPr>
          <a:xfrm>
            <a:off x="661475" y="6058198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make public grievance handling more organized, transparent and efficient.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PROCESSING WORKFLOW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089498" y="909538"/>
            <a:ext cx="12700" cy="4630539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5825086" y="1281212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6060427" y="1252141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909538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279" y="1010345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3148" y="1753691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9" name="Shape 7"/>
          <p:cNvSpPr/>
          <p:nvPr/>
        </p:nvSpPr>
        <p:spPr>
          <a:xfrm>
            <a:off x="6060427" y="1724620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9308" y="1382018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0112" y="1482824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 Complaint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25086" y="2178943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0427" y="2149872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1807270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279" y="1908076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Category &amp; Location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3148" y="2604195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427" y="2575123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9308" y="2232521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0112" y="2333327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Existing Complaints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25086" y="3029446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0427" y="3000375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2657773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279" y="2758579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Duplicate / Related Complaint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3148" y="3454698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0427" y="3425627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9308" y="3083024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0112" y="3183830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Calculate Priority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25086" y="3879949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9" name="Shape 27"/>
          <p:cNvSpPr/>
          <p:nvPr/>
        </p:nvSpPr>
        <p:spPr>
          <a:xfrm>
            <a:off x="6060427" y="3850878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75" y="3508276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279" y="3609082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 Department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3148" y="4305201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33" name="Shape 31"/>
          <p:cNvSpPr/>
          <p:nvPr/>
        </p:nvSpPr>
        <p:spPr>
          <a:xfrm>
            <a:off x="6060427" y="4276130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4" name="Shape 32"/>
          <p:cNvSpPr/>
          <p:nvPr/>
        </p:nvSpPr>
        <p:spPr>
          <a:xfrm>
            <a:off x="6379308" y="3933527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0112" y="4034334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Processes Complaint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25086" y="4730452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37" name="Shape 35"/>
          <p:cNvSpPr/>
          <p:nvPr/>
        </p:nvSpPr>
        <p:spPr>
          <a:xfrm>
            <a:off x="6060427" y="4701381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8" name="Shape 36"/>
          <p:cNvSpPr/>
          <p:nvPr/>
        </p:nvSpPr>
        <p:spPr>
          <a:xfrm>
            <a:off x="661475" y="4358779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279" y="4459585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3148" y="5155704"/>
            <a:ext cx="283461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41" name="Shape 39"/>
          <p:cNvSpPr/>
          <p:nvPr/>
        </p:nvSpPr>
        <p:spPr>
          <a:xfrm>
            <a:off x="6060427" y="5126633"/>
            <a:ext cx="70840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42" name="Shape 40"/>
          <p:cNvSpPr/>
          <p:nvPr/>
        </p:nvSpPr>
        <p:spPr>
          <a:xfrm>
            <a:off x="6379308" y="4784030"/>
            <a:ext cx="5150912" cy="756047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0112" y="4884837"/>
            <a:ext cx="49493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Tracks Complaint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755929" y="7010598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190301" y="7010598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Resolved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01920"/>
            <a:ext cx="10806140" cy="5806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0741" y="1538900"/>
            <a:ext cx="244542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49450" y="1931536"/>
            <a:ext cx="2586717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user initiating requests.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55259" y="2364931"/>
            <a:ext cx="244542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Interface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55259" y="2757568"/>
            <a:ext cx="2586718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Collects input and sends to system.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0741" y="3212700"/>
            <a:ext cx="244542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/ Logic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49450" y="3605337"/>
            <a:ext cx="2586717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processing and routing.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55259" y="4158289"/>
            <a:ext cx="244542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 Services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55259" y="4550925"/>
            <a:ext cx="2586718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Duplicate, priority, and assignment checks.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49450" y="5049533"/>
            <a:ext cx="2586717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Department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49450" y="5747855"/>
            <a:ext cx="2586717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data, notify department, update status.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291125" y="186675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Components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358787" y="534733"/>
            <a:ext cx="1736433" cy="1529857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 lnSpcReduction="10000"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Logic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Logic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Assignment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Side</a:t>
            </a:r>
            <a:endParaRPr lang="en-US" sz="12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050" y="20806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ENTITY RELATIONSHIP DIAGRAM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50" y="503337"/>
            <a:ext cx="10663750" cy="60429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4650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 Diagram Rules: Rectangle → Entity, Oval → Attribute, Underlined attribute → Primary Key, Diamond → Relationship, 1 / N → Cardinality. NO foreign keys.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936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IMPLEMENTATION PLAN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59086"/>
            <a:ext cx="10868745" cy="3264892"/>
          </a:xfrm>
          <a:prstGeom prst="roundRect">
            <a:avLst>
              <a:gd name="adj" fmla="val 190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265436"/>
            <a:ext cx="10856046" cy="3613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825" y="1265436"/>
            <a:ext cx="5428023" cy="361355"/>
          </a:xfrm>
          <a:custGeom>
            <a:avLst/>
            <a:gdLst/>
            <a:ahLst/>
            <a:cxnLst/>
            <a:rect l="l" t="t" r="r" b="b"/>
            <a:pathLst>
              <a:path w="5428023" h="361355">
                <a:moveTo>
                  <a:pt x="51685" y="0"/>
                </a:moveTo>
                <a:lnTo>
                  <a:pt x="5428023" y="0"/>
                </a:lnTo>
                <a:lnTo>
                  <a:pt x="5428023" y="361355"/>
                </a:lnTo>
                <a:lnTo>
                  <a:pt x="0" y="361355"/>
                </a:lnTo>
                <a:lnTo>
                  <a:pt x="0" y="51686"/>
                </a:lnTo>
                <a:arcTo wR="51685" hR="51686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15459" y="1340941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0" spc="-2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5848" y="1265436"/>
            <a:ext cx="5428023" cy="361355"/>
          </a:xfrm>
          <a:custGeom>
            <a:avLst/>
            <a:gdLst/>
            <a:ahLst/>
            <a:cxnLst/>
            <a:rect l="l" t="t" r="r" b="b"/>
            <a:pathLst>
              <a:path w="5428023" h="361355">
                <a:moveTo>
                  <a:pt x="0" y="0"/>
                </a:moveTo>
                <a:lnTo>
                  <a:pt x="5376338" y="0"/>
                </a:lnTo>
                <a:arcTo wR="51685" hR="51686" stAng="16200000" swAng="5400000"/>
                <a:lnTo>
                  <a:pt x="5428023" y="361355"/>
                </a:lnTo>
                <a:lnTo>
                  <a:pt x="0" y="361355"/>
                </a:lnTo>
                <a:lnTo>
                  <a:pt x="0" y="0"/>
                </a:ln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246656" y="1340941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0" spc="-2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Planned 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825" y="1626791"/>
            <a:ext cx="10856046" cy="3613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15459" y="1702296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46656" y="1702296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 Analysis &amp; Literature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825" y="1988145"/>
            <a:ext cx="10856046" cy="3613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15459" y="2063651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46656" y="2063651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 Diagram &amp; Database Design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825" y="2349500"/>
            <a:ext cx="10856046" cy="3613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15459" y="2425005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46656" y="2425005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Development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825" y="2710855"/>
            <a:ext cx="10856046" cy="3613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15459" y="2786360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46656" y="2786360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825" y="3072209"/>
            <a:ext cx="10856046" cy="3613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15459" y="3147715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6656" y="3147715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&amp; Duplicate Logic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825" y="3433564"/>
            <a:ext cx="10856046" cy="3613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15459" y="3509070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46656" y="3509070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Module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825" y="3794919"/>
            <a:ext cx="10856046" cy="3613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15459" y="3870424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7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46656" y="3870424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Debugging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825" y="4156273"/>
            <a:ext cx="10856046" cy="3613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15459" y="4231779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6656" y="4231779"/>
            <a:ext cx="573916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Integration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1475" y="4697016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7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Technology Stack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661475" y="5239246"/>
            <a:ext cx="10868745" cy="711597"/>
          </a:xfrm>
          <a:prstGeom prst="rect">
            <a:avLst/>
          </a:prstGeom>
          <a:noFill/>
          <a:ln/>
        </p:spPr>
        <p:txBody>
          <a:bodyPr wrap="square" lIns="0" tIns="59068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HTML, CSS, JavaScript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Python / Flask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MySQL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1475" y="6080621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your team hasn't finalized these, label them 'Proposed Technology Stack.'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&amp; DUPLICATE DETECTION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20614"/>
            <a:ext cx="522899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Priority Mechanism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475" y="1991320"/>
            <a:ext cx="583858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rule-based approach can be proposed: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435622"/>
            <a:ext cx="5228995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35622"/>
            <a:ext cx="5228995" cy="588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213497"/>
            <a:ext cx="522899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section: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13980" y="3832721"/>
            <a:ext cx="4976490" cy="22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 Damage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Priority = 5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School = +3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Related Reports = +2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Priority = 10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score → Higher priority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697784"/>
            <a:ext cx="19050" cy="247213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307575" y="1420614"/>
            <a:ext cx="522899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Detection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6307575" y="1991320"/>
            <a:ext cx="583858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can compare: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7575" y="2380853"/>
            <a:ext cx="5228995" cy="1175544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category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 issue description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7575" y="3691334"/>
            <a:ext cx="5228995" cy="103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similar complaints are found: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Related/Duplicate → Duplicate Count → Priority consideration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is a proposed feature, not an implemented feature.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73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 &amp; CONCLUSION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075333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7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61475" y="1617563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CivicConnect is expected to: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038846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850581" y="1957685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Simplify civic complaint registration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479873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850581" y="2398713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complaints by category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2920901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850581" y="2839740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repeated complaint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1475" y="3361928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581" y="3280767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important complaints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3802955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581" y="3721795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complaints to appropriate departments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4243983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581" y="4162822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transparency through status tracking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1475" y="4685010"/>
            <a:ext cx="73817" cy="7381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581" y="4603849"/>
            <a:ext cx="1067963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organized grievance information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1475" y="4987230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7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61475" y="5529461"/>
            <a:ext cx="1086874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1000"/>
              </a:spcAft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analysis shows that existing systems provide important grievance-management facilities, while there is scope for better integration of duplicate handling, prioritization, location consideration and department assignment.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CivicConnect proposes an integrated solution to address these gaps.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961" y="3008671"/>
            <a:ext cx="11948091" cy="137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!!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916</Words>
  <Application>Microsoft Office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Inter</vt:lpstr>
      <vt:lpstr>Tw Cen MT Condensed Extra 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sejalheda7@gmail.com</cp:lastModifiedBy>
  <cp:revision>3</cp:revision>
  <dcterms:created xsi:type="dcterms:W3CDTF">2026-08-17T14:08:50Z</dcterms:created>
  <dcterms:modified xsi:type="dcterms:W3CDTF">2026-08-18T08:35:13Z</dcterms:modified>
</cp:coreProperties>
</file>