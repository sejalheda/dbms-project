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3"/>
    <p:sldId id="266" r:id="rId14"/>
  </p:sldIdLst>
  <p:sldSz cx="12192000" cy="6858000"/>
  <p:notesSz cx="6858000" cy="12192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</p:embeddedFont>
    <p:embeddedFont>
      <p:font typeface="Inter Bold" panose="020B0604020202020204" charset="0"/>
      <p:regular r:id="rId25"/>
    </p:embeddedFont>
    <p:embeddedFont>
      <p:font typeface="Tw Cen MT Condensed Extra Bold" panose="020B0803020202020204" pitchFamily="34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jalheda7@gmail.com" userId="16a43dc8308c7539" providerId="LiveId" clId="{92FB1C10-AD31-4FD7-96BE-F939FBE6EC14}"/>
    <pc:docChg chg="custSel addSld modSld">
      <pc:chgData name="sejalheda7@gmail.com" userId="16a43dc8308c7539" providerId="LiveId" clId="{92FB1C10-AD31-4FD7-96BE-F939FBE6EC14}" dt="2026-09-18T03:25:02.439" v="16" actId="1076"/>
      <pc:docMkLst>
        <pc:docMk/>
      </pc:docMkLst>
      <pc:sldChg chg="delSp modSp mod">
        <pc:chgData name="sejalheda7@gmail.com" userId="16a43dc8308c7539" providerId="LiveId" clId="{92FB1C10-AD31-4FD7-96BE-F939FBE6EC14}" dt="2026-09-14T16:09:02.407" v="4" actId="1076"/>
        <pc:sldMkLst>
          <pc:docMk/>
          <pc:sldMk cId="0" sldId="259"/>
        </pc:sldMkLst>
        <pc:spChg chg="del">
          <ac:chgData name="sejalheda7@gmail.com" userId="16a43dc8308c7539" providerId="LiveId" clId="{92FB1C10-AD31-4FD7-96BE-F939FBE6EC14}" dt="2026-09-14T16:08:48.134" v="0" actId="478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sejalheda7@gmail.com" userId="16a43dc8308c7539" providerId="LiveId" clId="{92FB1C10-AD31-4FD7-96BE-F939FBE6EC14}" dt="2026-09-14T16:08:53.064" v="2" actId="478"/>
          <ac:spMkLst>
            <pc:docMk/>
            <pc:sldMk cId="0" sldId="259"/>
            <ac:spMk id="8" creationId="{00000000-0000-0000-0000-000000000000}"/>
          </ac:spMkLst>
        </pc:spChg>
        <pc:spChg chg="mod">
          <ac:chgData name="sejalheda7@gmail.com" userId="16a43dc8308c7539" providerId="LiveId" clId="{92FB1C10-AD31-4FD7-96BE-F939FBE6EC14}" dt="2026-09-14T16:08:58.905" v="3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ejalheda7@gmail.com" userId="16a43dc8308c7539" providerId="LiveId" clId="{92FB1C10-AD31-4FD7-96BE-F939FBE6EC14}" dt="2026-09-14T16:09:02.407" v="4" actId="1076"/>
          <ac:spMkLst>
            <pc:docMk/>
            <pc:sldMk cId="0" sldId="259"/>
            <ac:spMk id="10" creationId="{00000000-0000-0000-0000-000000000000}"/>
          </ac:spMkLst>
        </pc:spChg>
      </pc:sldChg>
      <pc:sldChg chg="delSp modSp mod">
        <pc:chgData name="sejalheda7@gmail.com" userId="16a43dc8308c7539" providerId="LiveId" clId="{92FB1C10-AD31-4FD7-96BE-F939FBE6EC14}" dt="2026-09-18T03:24:30.950" v="7"/>
        <pc:sldMkLst>
          <pc:docMk/>
          <pc:sldMk cId="0" sldId="265"/>
        </pc:sldMkLst>
        <pc:spChg chg="del mod">
          <ac:chgData name="sejalheda7@gmail.com" userId="16a43dc8308c7539" providerId="LiveId" clId="{92FB1C10-AD31-4FD7-96BE-F939FBE6EC14}" dt="2026-09-18T03:24:30.950" v="7"/>
          <ac:spMkLst>
            <pc:docMk/>
            <pc:sldMk cId="0" sldId="265"/>
            <ac:spMk id="24" creationId="{745ECF65-198C-4315-9090-61AE9571AFDC}"/>
          </ac:spMkLst>
        </pc:spChg>
      </pc:sldChg>
      <pc:sldChg chg="addSp modSp new mod">
        <pc:chgData name="sejalheda7@gmail.com" userId="16a43dc8308c7539" providerId="LiveId" clId="{92FB1C10-AD31-4FD7-96BE-F939FBE6EC14}" dt="2026-09-18T03:25:02.439" v="16" actId="1076"/>
        <pc:sldMkLst>
          <pc:docMk/>
          <pc:sldMk cId="941912871" sldId="268"/>
        </pc:sldMkLst>
        <pc:picChg chg="add mod modCrop">
          <ac:chgData name="sejalheda7@gmail.com" userId="16a43dc8308c7539" providerId="LiveId" clId="{92FB1C10-AD31-4FD7-96BE-F939FBE6EC14}" dt="2026-09-18T03:25:02.439" v="16" actId="1076"/>
          <ac:picMkLst>
            <pc:docMk/>
            <pc:sldMk cId="941912871" sldId="268"/>
            <ac:picMk id="3" creationId="{2FD34E0A-76BF-4B7A-B19A-53BC5AD5C0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58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7300" y="781645"/>
            <a:ext cx="8787325" cy="134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00" b="1" kern="0" spc="-15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🏛️</a:t>
            </a:r>
            <a:r>
              <a:rPr lang="en-US" sz="48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4800" b="1" dirty="0"/>
              <a:t>AI-Powered Civic Connect: Smart Public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/>
              <a:t>Grievance Management System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61475" y="3197920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890075" y="2863454"/>
            <a:ext cx="10868745" cy="2384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Web-Based Intelligent Platform for Public Complaint Management</a:t>
            </a:r>
            <a:endParaRPr lang="en-US" sz="1450" dirty="0"/>
          </a:p>
          <a:p>
            <a:pPr>
              <a:defRPr sz="1800"/>
            </a:pP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Sejal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</a:t>
            </a: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Heda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(2510030350)</a:t>
            </a:r>
          </a:p>
          <a:p>
            <a:pPr>
              <a:defRPr sz="1800"/>
            </a:pP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Bhavya </a:t>
            </a: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Potnuru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(2510030379)</a:t>
            </a:r>
          </a:p>
          <a:p>
            <a:pPr>
              <a:defRPr sz="1800"/>
            </a:pP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Thota Lakshmi </a:t>
            </a: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Hansika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(2510030330)</a:t>
            </a:r>
          </a:p>
          <a:p>
            <a:pPr>
              <a:defRPr sz="1800"/>
            </a:pP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Bachangari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Siri(2510030325)</a:t>
            </a:r>
          </a:p>
          <a:p>
            <a:pPr>
              <a:defRPr sz="1800"/>
            </a:pP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Macharla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Mounika(2510030343)</a:t>
            </a: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E3C7504-555E-4EEC-8152-82185C5C054F}"/>
              </a:ext>
            </a:extLst>
          </p:cNvPr>
          <p:cNvSpPr/>
          <p:nvPr/>
        </p:nvSpPr>
        <p:spPr>
          <a:xfrm>
            <a:off x="661475" y="4758333"/>
            <a:ext cx="108687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b="1" kern="0" spc="-5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the Guidance of:</a:t>
            </a:r>
            <a:endParaRPr lang="en-US" sz="1700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7F6DCE3-B611-4D4B-931A-B5F959601E1A}"/>
              </a:ext>
            </a:extLst>
          </p:cNvPr>
          <p:cNvSpPr/>
          <p:nvPr/>
        </p:nvSpPr>
        <p:spPr>
          <a:xfrm>
            <a:off x="356682" y="5236766"/>
            <a:ext cx="1147833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defRPr sz="1800"/>
            </a:pP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					</a:t>
            </a:r>
            <a:r>
              <a:rPr lang="en-IN" sz="1600" dirty="0" err="1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Dr.P</a:t>
            </a:r>
            <a:r>
              <a:rPr lang="en-IN" sz="1600" dirty="0">
                <a:latin typeface="Tw Cen MT Condensed Extra Bold" panose="020B0803020202020204" pitchFamily="34" charset="0"/>
                <a:ea typeface="Cambria Math" panose="02040503050406030204" pitchFamily="18" charset="0"/>
              </a:rPr>
              <a:t> Lalitha Surya Kumari	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0766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950" b="1" kern="0" spc="-8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 &amp; Objectives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155726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2699147"/>
            <a:ext cx="5203794" cy="2815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complaint management systems face:</a:t>
            </a:r>
            <a:endParaRPr lang="en-US" sz="1450" dirty="0"/>
          </a:p>
          <a:p>
            <a:pPr marL="589280" lvl="1" indent="-294640" algn="l">
              <a:lnSpc>
                <a:spcPct val="133000"/>
              </a:lnSpc>
              <a:buSzPct val="100000"/>
              <a:buChar char="◦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complaints for the same civic issue</a:t>
            </a:r>
            <a:endParaRPr lang="en-US" sz="1450" dirty="0"/>
          </a:p>
          <a:p>
            <a:pPr marL="589280" lvl="1" indent="-294640" algn="l">
              <a:lnSpc>
                <a:spcPct val="133000"/>
              </a:lnSpc>
              <a:buSzPct val="100000"/>
              <a:buChar char="◦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priority assignment</a:t>
            </a:r>
            <a:endParaRPr lang="en-US" sz="1450" dirty="0"/>
          </a:p>
          <a:p>
            <a:pPr marL="589280" lvl="1" indent="-294640" algn="l">
              <a:lnSpc>
                <a:spcPct val="133000"/>
              </a:lnSpc>
              <a:buSzPct val="100000"/>
              <a:buChar char="◦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identifying responsible departments</a:t>
            </a:r>
            <a:endParaRPr lang="en-US" sz="1450" dirty="0"/>
          </a:p>
          <a:p>
            <a:pPr marL="589280" lvl="1" indent="-294640" algn="l">
              <a:lnSpc>
                <a:spcPct val="133000"/>
              </a:lnSpc>
              <a:buSzPct val="100000"/>
              <a:buChar char="◦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geographical information</a:t>
            </a:r>
            <a:endParaRPr lang="en-US" sz="1450" dirty="0"/>
          </a:p>
          <a:p>
            <a:pPr marL="589280" lvl="1" indent="-294640" algn="l">
              <a:lnSpc>
                <a:spcPct val="133000"/>
              </a:lnSpc>
              <a:buSzPct val="100000"/>
              <a:buChar char="◦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Poor complaint tracking</a:t>
            </a:r>
            <a:endParaRPr lang="en-US" sz="1450" dirty="0"/>
          </a:p>
          <a:p>
            <a:pPr marL="589280" lvl="1" indent="-294640" algn="l">
              <a:lnSpc>
                <a:spcPct val="133000"/>
              </a:lnSpc>
              <a:buSzPct val="100000"/>
              <a:buChar char="◦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separation between citizen and administrator access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155726"/>
            <a:ext cx="5203794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kern="0" spc="-6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Objectives of CivicConnect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332776" y="2699147"/>
            <a:ext cx="5203794" cy="2881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Digitize public complaint registration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possible duplicate complaints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 priority when duplicate reports increase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assign responsible departments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complaint location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 citizens to view only their own complaints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an administrator dashboard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complaint status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Methodology &amp; Novelty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CivicConnect Workflow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41016"/>
            <a:ext cx="975335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A9CE6F6-63D9-401A-A783-BDA0EA71A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359" y="252387"/>
            <a:ext cx="1053928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Novelty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reports of the same civic issue are consolidated into one issue on the Admin Dashboard, while the duplicate count is increased and contributes to priority.</a:t>
            </a:r>
            <a:endParaRPr kumimoji="0" lang="en-US" altLang="en-US" sz="5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197C70-DCAD-4FB3-8BB1-074AE7EFA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63" t="26389" r="18203" b="24444"/>
          <a:stretch/>
        </p:blipFill>
        <p:spPr>
          <a:xfrm>
            <a:off x="619125" y="1543049"/>
            <a:ext cx="10121012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1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08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&amp; Backend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45320"/>
            <a:ext cx="5225423" cy="428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kern="0" spc="-8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Diagram</a:t>
            </a:r>
            <a:endParaRPr lang="en-US" sz="2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48173"/>
            <a:ext cx="5225423" cy="29393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1147" y="1445320"/>
            <a:ext cx="522542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6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Concepts - Python Flask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311147" y="1921669"/>
            <a:ext cx="5225423" cy="1838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handling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 processing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operations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96847" y="3755082"/>
            <a:ext cx="5225423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6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Connection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05305" y="4140993"/>
            <a:ext cx="583500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→ psycopg2 → PostgreSQL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Machine Learning Component: Priority Prediction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141016"/>
            <a:ext cx="10868745" cy="27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8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Algorithm: Logistic Regression</a:t>
            </a:r>
            <a:endParaRPr lang="en-US" sz="8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 supervised machine learning to predict an additional priority level.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1521222"/>
            <a:ext cx="343218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Features: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1745655"/>
            <a:ext cx="3358075" cy="651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description</a:t>
            </a:r>
            <a:endParaRPr lang="en-US" sz="1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category</a:t>
            </a:r>
            <a:endParaRPr lang="en-US" sz="1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type</a:t>
            </a:r>
            <a:endParaRPr lang="en-US" sz="10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count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30592" y="1264047"/>
            <a:ext cx="354311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Text Processing - TF-IDF: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24110" y="1586146"/>
            <a:ext cx="3543112" cy="538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TF-IDF</a:t>
            </a: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Term Frequency–Inverse Document Frequency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converts complaint text into numerical features.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"Garbage overflowing near hospital" → TF-IDF Vector → Numerical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10632" y="1521222"/>
            <a:ext cx="343218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 Processing - One-Hot Encoding: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172452" y="1798737"/>
            <a:ext cx="3543112" cy="1065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category</a:t>
            </a:r>
            <a:endParaRPr lang="en-US" sz="11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11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 type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475" y="2397522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Flow:</a:t>
            </a:r>
            <a:endParaRPr lang="en-US" sz="14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704604"/>
            <a:ext cx="10868745" cy="48909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298699" y="2966528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 Data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2298699" y="3344064"/>
            <a:ext cx="190200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text and metadata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179800" y="6487804"/>
            <a:ext cx="3173499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Engineering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440845" y="6064246"/>
            <a:ext cx="1912454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TF-IDF and one-hot encoding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040002" y="2782985"/>
            <a:ext cx="1902003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040002" y="3454451"/>
            <a:ext cx="1902003" cy="352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Supervised model training and inference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921104" y="6539519"/>
            <a:ext cx="2950520" cy="146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Predicted Priority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9344071" y="6115962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45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Assigned priority label output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7700"/>
            <a:ext cx="10868745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50" b="1" kern="0" spc="-9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📍</a:t>
            </a:r>
            <a:r>
              <a:rPr lang="en-US" sz="3050" b="1" kern="0" spc="-9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Location Detection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73498"/>
            <a:ext cx="3330889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Location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1896566"/>
            <a:ext cx="3330889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900"/>
              </a:spcAft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citizen clicks "</a:t>
            </a:r>
            <a:r>
              <a:rPr lang="en-US" sz="120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📍</a:t>
            </a: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 My Current Location":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 uses: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61475" y="2851944"/>
            <a:ext cx="3330889" cy="1815505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49291" y="3008412"/>
            <a:ext cx="2955256" cy="1502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navigator.geolocation.getCurrentPosition(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function(position) {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lat = position.coords.latitude;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const lon = position.coords.longitude;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1475" y="4813201"/>
            <a:ext cx="3330889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browser requests permission and provides: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5387578"/>
            <a:ext cx="3330889" cy="777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Latitude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Longitude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0497" y="1473498"/>
            <a:ext cx="3443301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 Location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80497" y="1896566"/>
            <a:ext cx="3443301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citizen does not want to share current location, they can manually enter: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0497" y="2470944"/>
            <a:ext cx="3443301" cy="503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Latitude: 17.362842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Longitude: 78.421379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11932" y="1473498"/>
            <a:ext cx="3330889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 Type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11932" y="1896566"/>
            <a:ext cx="394047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citizen can select: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11932" y="2242046"/>
            <a:ext cx="3330889" cy="214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Highway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Residential Area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Area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Plot</a:t>
            </a:r>
            <a:endParaRPr lang="en-US" sz="1200" dirty="0"/>
          </a:p>
          <a:p>
            <a:pPr marL="243840" indent="-243840" algn="l">
              <a:lnSpc>
                <a:spcPct val="122000"/>
              </a:lnSpc>
              <a:buSzPct val="100000"/>
              <a:buChar char="•"/>
            </a:pPr>
            <a:r>
              <a:rPr lang="en-US" sz="120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4540"/>
            <a:ext cx="10868745" cy="4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50" b="1" kern="0" spc="-7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2450" b="1" kern="0" spc="-7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Duplicate Complaint Detection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178421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purpose is to prevent the Admin Dashboard from displaying the same civic issue repeatedly.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44228"/>
            <a:ext cx="3622882" cy="50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8472" y="2037556"/>
            <a:ext cx="33688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Category Check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88472" y="2287191"/>
            <a:ext cx="336888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spcAft>
                <a:spcPts val="400"/>
              </a:spcAft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Compare: New Complaint Category = Previous Complaint Category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Sewerage &amp; Drainage = Sewerage &amp; Drainage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1444228"/>
            <a:ext cx="3622882" cy="508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11354" y="2037556"/>
            <a:ext cx="33688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 Check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411354" y="2287191"/>
            <a:ext cx="3368888" cy="951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1000"/>
              </a:lnSpc>
              <a:spcAft>
                <a:spcPts val="400"/>
              </a:spcAft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latitude and longitude.</a:t>
            </a:r>
            <a:endParaRPr lang="en-US" sz="950" dirty="0"/>
          </a:p>
          <a:p>
            <a:pPr marL="0" indent="0" algn="l">
              <a:lnSpc>
                <a:spcPct val="111000"/>
              </a:lnSpc>
              <a:spcAft>
                <a:spcPts val="400"/>
              </a:spcAft>
              <a:buNone/>
            </a:pP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Haversine Formula:</a:t>
            </a: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Calculates the geographical distance between two coordinate points.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Latitude + Longitude → Haversine Formula → Distance in metres → ≤ 100 metres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1444228"/>
            <a:ext cx="3622882" cy="508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34236" y="2037556"/>
            <a:ext cx="33688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Complaint Similarity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34236" y="2287191"/>
            <a:ext cx="3368888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spcAft>
                <a:spcPts val="400"/>
              </a:spcAft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compare complaint descriptions using: </a:t>
            </a: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TF-IDF + Cosine Similarity</a:t>
            </a:r>
            <a:endParaRPr lang="en-US" sz="950" dirty="0"/>
          </a:p>
          <a:p>
            <a:pPr marL="0" indent="0" algn="l">
              <a:lnSpc>
                <a:spcPct val="111000"/>
              </a:lnSpc>
              <a:buNone/>
            </a:pPr>
            <a:r>
              <a:rPr lang="en-US" sz="950" b="1" kern="0" spc="-2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8034236" y="2899172"/>
            <a:ext cx="3368888" cy="5394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1: "Drainage water is overflowing near hospital"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2: "Sewage is flowing outside hospital"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034236" y="3489821"/>
            <a:ext cx="3368888" cy="509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the complaints are sufficiently similar and geographically close, they are treated as possible duplicates.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61475" y="4254401"/>
            <a:ext cx="10868745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kern="0" spc="-6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Consolidation</a:t>
            </a:r>
            <a:endParaRPr lang="en-US" sz="1950" dirty="0"/>
          </a:p>
        </p:txBody>
      </p:sp>
      <p:sp>
        <p:nvSpPr>
          <p:cNvPr id="16" name="Text 11"/>
          <p:cNvSpPr/>
          <p:nvPr/>
        </p:nvSpPr>
        <p:spPr>
          <a:xfrm>
            <a:off x="661475" y="4785221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Database: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61475" y="5068987"/>
            <a:ext cx="5279496" cy="569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1 → Original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5 → Duplicate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8 → Duplicate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257074" y="4785221"/>
            <a:ext cx="5279496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Dashboard: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57074" y="5068987"/>
            <a:ext cx="5279496" cy="369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1</a:t>
            </a:r>
            <a:endParaRPr lang="en-US" sz="950" dirty="0"/>
          </a:p>
          <a:p>
            <a:pPr marL="193040" indent="-193040" algn="l">
              <a:lnSpc>
                <a:spcPct val="111000"/>
              </a:lnSpc>
              <a:buSzPct val="100000"/>
              <a:buChar char="•"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Count = 2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257074" y="5515372"/>
            <a:ext cx="588908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kern="0" spc="-2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5 and ID 8 are not shown separately to the admin.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61475" y="5857974"/>
            <a:ext cx="10868745" cy="395486"/>
          </a:xfrm>
          <a:prstGeom prst="roundRect">
            <a:avLst>
              <a:gd name="adj" fmla="val 13487"/>
            </a:avLst>
          </a:prstGeom>
          <a:solidFill>
            <a:srgbClr val="DADBF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472" y="5978227"/>
            <a:ext cx="158746" cy="127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4215" y="5975052"/>
            <a:ext cx="10938594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b="1" kern="0" spc="-2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NOTE:</a:t>
            </a:r>
            <a:r>
              <a:rPr lang="en-US" sz="950" kern="0" spc="-2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Duplicate records are retained in the database for traceability but consolidated in the Admin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547"/>
            <a:ext cx="10868745" cy="486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00" b="1" kern="0" spc="-9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3000" b="1" kern="0" spc="-9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Dynamic Complaint Priority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101725"/>
            <a:ext cx="10868745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kern="0" spc="-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Formula: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1576784"/>
            <a:ext cx="10868745" cy="585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Priority = Base Priority + Location Bonus + Duplicate Count</a:t>
            </a:r>
            <a:endParaRPr lang="en-US" sz="1200" dirty="0"/>
          </a:p>
          <a:p>
            <a:pPr marL="0" indent="0" algn="ctr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Score =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1475" y="2427387"/>
            <a:ext cx="333565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Location Bonus Table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807593"/>
          <a:ext cx="3335650" cy="2732813"/>
        </p:xfrm>
        <a:graphic>
          <a:graphicData uri="http://schemas.openxmlformats.org/drawingml/2006/table">
            <a:tbl>
              <a:tblPr/>
              <a:tblGrid>
                <a:gridCol w="166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7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1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Bonus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Hospital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School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Highway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+3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Market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Residential Area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1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Other locations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378116" y="2427387"/>
            <a:ext cx="3448063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Levels Table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78116" y="2807593"/>
          <a:ext cx="3448064" cy="1975595"/>
        </p:xfrm>
        <a:graphic>
          <a:graphicData uri="http://schemas.openxmlformats.org/drawingml/2006/table">
            <a:tbl>
              <a:tblPr/>
              <a:tblGrid>
                <a:gridCol w="1724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1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Critical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8–9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High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76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5–7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Medium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4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1–4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4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 Low</a:t>
                      </a:r>
                      <a:endParaRPr lang="en-US" sz="12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53577" marR="153577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8207170" y="2427387"/>
            <a:ext cx="3335651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 Effect Example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207170" y="2792016"/>
            <a:ext cx="3335651" cy="1568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Priority = 6</a:t>
            </a:r>
            <a:endParaRPr lang="en-US" sz="12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Hospital Bonus = 4</a:t>
            </a:r>
            <a:endParaRPr lang="en-US" sz="12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Count = 2</a:t>
            </a:r>
            <a:endParaRPr lang="en-US" sz="1200" dirty="0"/>
          </a:p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+ 4 + 2 = 12</a:t>
            </a:r>
            <a:endParaRPr lang="en-US" sz="12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score: Final Priority = 10 </a:t>
            </a:r>
            <a:r>
              <a:rPr lang="en-US" sz="1200" kern="0" spc="-24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r>
              <a:rPr lang="en-US" sz="1200" kern="0" spc="-24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Critical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61475" y="5872063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356682" y="6069707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 the number of duplicate reports increases, the priority score increases.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391"/>
            <a:ext cx="10868745" cy="54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50" b="1" kern="0" spc="-10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r>
              <a:rPr lang="en-US" sz="3350" b="1" kern="0" spc="-10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Citizen vs Administrator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514971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Citizen Portal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937742"/>
            <a:ext cx="3306680" cy="2469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complaint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 location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My Complaints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priority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duplicate count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status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547295"/>
            <a:ext cx="3306680" cy="1585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Privacy:</a:t>
            </a:r>
            <a:endParaRPr lang="en-US" sz="1300" dirty="0"/>
          </a:p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 A → My Complaints → Only Citizen A's complaints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citizen cannot see all complaints registered by other citizens.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92403" y="1514971"/>
            <a:ext cx="341948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Administrator Portal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92403" y="1937742"/>
            <a:ext cx="3419489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authorized administrator can access the complete dashboard.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92403" y="2615406"/>
            <a:ext cx="341948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Admin Login: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392403" y="3038177"/>
            <a:ext cx="3419489" cy="674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Email: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Inter" pitchFamily="34" charset="-122"/>
                <a:cs typeface="Inter" pitchFamily="34" charset="-120"/>
              </a:rPr>
              <a:t>abc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@gmail.com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Password: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******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92403" y="3852763"/>
            <a:ext cx="3419489" cy="215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consolidated complaints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priority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duplicate count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department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location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citizen information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Update complaint status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36141" y="1514971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 Tracking &amp; Database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236141" y="1844576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Status Tracking: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36141" y="2267347"/>
            <a:ext cx="3306680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Pending → Under Review → Assigned → In Progress → Resolved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36141" y="2945011"/>
            <a:ext cx="330668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 Tables: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36141" y="3367782"/>
            <a:ext cx="3306680" cy="215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Citizen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ComplaintReporter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D34E0A-76BF-4B7A-B19A-53BC5AD5C0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921" t="7084" r="14923" b="35277"/>
          <a:stretch/>
        </p:blipFill>
        <p:spPr>
          <a:xfrm>
            <a:off x="634160" y="733425"/>
            <a:ext cx="10923680" cy="504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12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4" y="35087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🗄️</a:t>
            </a:r>
            <a:r>
              <a:rPr lang="en-US" sz="185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PostgreSQL &amp; pgAdmin 4, Evaluation, Adaptability &amp; Future Scope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 &amp; pgAdmin 4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141016"/>
            <a:ext cx="10868745" cy="446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Concept:</a:t>
            </a:r>
            <a:endParaRPr lang="en-US" sz="14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does NOT connect to pgAdmin.</a:t>
            </a:r>
            <a:endParaRPr lang="en-US" sz="14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Instead: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rcRect t="21835"/>
          <a:stretch/>
        </p:blipFill>
        <p:spPr>
          <a:xfrm>
            <a:off x="985325" y="2374305"/>
            <a:ext cx="9753356" cy="42884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7179965"/>
            <a:ext cx="10868745" cy="9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74879" y="8227516"/>
            <a:ext cx="1064193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61475" y="9608344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9744968"/>
            <a:ext cx="343218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Evaluation: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1475" y="9969401"/>
            <a:ext cx="3432188" cy="115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Complaint registration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and role access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detection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Priority calculation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prediction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 assignment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tracking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consolidation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4330592" y="9744968"/>
            <a:ext cx="3543112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Evaluation: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330592" y="9969401"/>
            <a:ext cx="3543112" cy="63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dataset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dataset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report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 predictions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110632" y="9744968"/>
            <a:ext cx="3432188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3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Adaptability &amp; Future Scope: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10632" y="9969401"/>
            <a:ext cx="404177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Adaptability: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8110632" y="10125273"/>
            <a:ext cx="3432188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cities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complaint categories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government departments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priority rules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duplicate-distance thresholds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Larger datasets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advanced ML models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110632" y="11060410"/>
            <a:ext cx="404177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Scope: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8110632" y="11216283"/>
            <a:ext cx="3432188" cy="892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📱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Mobile application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🗺️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Interactive complaint map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SMS/email notifications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Analytics dashboard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Advanced NLP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📷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Image-based complaint analysis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Multi-language support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61475" y="12202120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56682" y="1229151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7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CivicConnect combines web technology, relational database management, geolocation, machine learning and role-based access to create an intelligent and scalable public grievance management system.</a:t>
            </a:r>
            <a:endParaRPr lang="en-US" sz="7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7B3467-F931-403C-A160-421AC132C3FE}"/>
              </a:ext>
            </a:extLst>
          </p:cNvPr>
          <p:cNvSpPr txBox="1"/>
          <p:nvPr/>
        </p:nvSpPr>
        <p:spPr>
          <a:xfrm>
            <a:off x="7281106" y="891967"/>
            <a:ext cx="6701594" cy="106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</a:t>
            </a: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actual database server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r>
              <a:rPr lang="en-US" sz="12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Flask</a:t>
            </a: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application that connects to PostgreSQL</a:t>
            </a:r>
            <a:endParaRPr lang="en-US" sz="12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r>
              <a:rPr lang="en-US" sz="12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psycopg2</a:t>
            </a: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Python PostgreSQL connector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r>
              <a:rPr lang="en-US" sz="1200" b="1" kern="0" spc="-15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pgAdmin</a:t>
            </a:r>
            <a:r>
              <a:rPr lang="en-US" sz="12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4</a:t>
            </a: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GUI used to manage/view PostgreSQL     </a:t>
            </a:r>
            <a:endParaRPr lang="en-US" sz="1200" dirty="0"/>
          </a:p>
          <a:p>
            <a:pPr marL="0" indent="0"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Flask and </a:t>
            </a:r>
            <a:r>
              <a:rPr lang="en-US" sz="1200" kern="0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pgAdmin</a:t>
            </a:r>
            <a:r>
              <a:rPr lang="en-US" sz="12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work with the same PostgreSQL database.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543496-76E4-4A0D-87DF-B53D7DB90DD5}"/>
              </a:ext>
            </a:extLst>
          </p:cNvPr>
          <p:cNvSpPr txBox="1"/>
          <p:nvPr/>
        </p:nvSpPr>
        <p:spPr>
          <a:xfrm>
            <a:off x="430902" y="1085493"/>
            <a:ext cx="322669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Methodology Evaluation: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Complaint registration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Login and role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Duplicate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Priority calculation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AI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Department assignment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Status tracking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Dashboard consolidation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35EC45-4799-45A9-8583-0FA14A4CBF76}"/>
              </a:ext>
            </a:extLst>
          </p:cNvPr>
          <p:cNvSpPr txBox="1"/>
          <p:nvPr/>
        </p:nvSpPr>
        <p:spPr>
          <a:xfrm>
            <a:off x="3572179" y="2151727"/>
            <a:ext cx="445739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Adaptability: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Different cities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Different complaint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Different government departments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Different priority rules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Different duplicate-distance thresholds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Larger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More advanced ML models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8DE611-6742-4EFC-8CF1-E0F30CDBC799}"/>
              </a:ext>
            </a:extLst>
          </p:cNvPr>
          <p:cNvSpPr txBox="1"/>
          <p:nvPr/>
        </p:nvSpPr>
        <p:spPr>
          <a:xfrm>
            <a:off x="8027602" y="359666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/>
              <a:t>Future Scope: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📱 Mobile application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🗺️ Interactive complaint map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🔔 SMS/email notifications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📈 Analytics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🧠 Advanced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📷 Image-based complaint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🌐 Multi-language support</a:t>
            </a:r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906EF248-BE24-4570-8AB4-106F1FF61EEB}"/>
              </a:ext>
            </a:extLst>
          </p:cNvPr>
          <p:cNvSpPr/>
          <p:nvPr/>
        </p:nvSpPr>
        <p:spPr>
          <a:xfrm>
            <a:off x="661474" y="350878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b="1" kern="0" spc="-5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and Future Scope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1100</Words>
  <Application>Microsoft Office PowerPoint</Application>
  <PresentationFormat>Widescreen</PresentationFormat>
  <Paragraphs>276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Inter</vt:lpstr>
      <vt:lpstr>Consolas</vt:lpstr>
      <vt:lpstr>Twemoji Mozilla</vt:lpstr>
      <vt:lpstr>Calibri</vt:lpstr>
      <vt:lpstr>Inter Bold</vt:lpstr>
      <vt:lpstr>Twemoji Mozilla, Apple Color Emoji, Segoe UI Emoji, Segoe UI Symbol, Noto Color Emoji, EmojiOne Color, Android Emoji, sans-serif</vt:lpstr>
      <vt:lpstr>Tw Cen MT Condensed Extra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lastModifiedBy>sejalheda7@gmail.com</cp:lastModifiedBy>
  <cp:revision>3</cp:revision>
  <dcterms:created xsi:type="dcterms:W3CDTF">2026-09-14T15:38:35Z</dcterms:created>
  <dcterms:modified xsi:type="dcterms:W3CDTF">2026-09-18T03:25:09Z</dcterms:modified>
</cp:coreProperties>
</file>